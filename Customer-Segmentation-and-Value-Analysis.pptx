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omfortaa"/>
      <p:regular r:id="rId17"/>
    </p:embeddedFont>
    <p:embeddedFont>
      <p:font typeface="Comfortaa"/>
      <p:regular r:id="rId18"/>
    </p:embeddedFont>
    <p:embeddedFont>
      <p:font typeface="Raleway Medium"/>
      <p:regular r:id="rId19"/>
    </p:embeddedFont>
    <p:embeddedFont>
      <p:font typeface="Raleway Medium"/>
      <p:regular r:id="rId20"/>
    </p:embeddedFont>
    <p:embeddedFont>
      <p:font typeface="Raleway Medium"/>
      <p:regular r:id="rId21"/>
    </p:embeddedFont>
    <p:embeddedFont>
      <p:font typeface="Raleway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3327440"/>
            <a:ext cx="1182814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Segmentation &amp; Value Analysis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450699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Unlocking business growth through data-driven customer understanding.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1974771"/>
            <a:ext cx="1342906" cy="46410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2048827"/>
            <a:ext cx="104667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CHAPTER 1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2537579"/>
            <a:ext cx="7434858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Defining the Business Challenge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864037" y="3456384"/>
            <a:ext cx="6327696" cy="2798445"/>
          </a:xfrm>
          <a:prstGeom prst="roundRect">
            <a:avLst>
              <a:gd name="adj" fmla="val 5228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3557" y="3456384"/>
            <a:ext cx="121920" cy="2798445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7" name="Text 5"/>
          <p:cNvSpPr/>
          <p:nvPr/>
        </p:nvSpPr>
        <p:spPr>
          <a:xfrm>
            <a:off x="1232773" y="37336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Business Problem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232773" y="4224695"/>
            <a:ext cx="568166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Retail customer analytics often lacks granular insights into customer behaviour, leading to generalised marketing strategies and missed opportunities for targeted engagement.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38549" y="3456384"/>
            <a:ext cx="6327815" cy="2798445"/>
          </a:xfrm>
          <a:prstGeom prst="roundRect">
            <a:avLst>
              <a:gd name="adj" fmla="val 5228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8069" y="3456384"/>
            <a:ext cx="121920" cy="2798445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11" name="Text 9"/>
          <p:cNvSpPr/>
          <p:nvPr/>
        </p:nvSpPr>
        <p:spPr>
          <a:xfrm>
            <a:off x="7807285" y="37336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Project Objectives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807285" y="4224695"/>
            <a:ext cx="56817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Identify distinct customer segments.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807285" y="4706064"/>
            <a:ext cx="56817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Analyse value drivers for each segment.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807285" y="5187434"/>
            <a:ext cx="568178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Develop actionable insights for personalised strategies.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4369" y="522327"/>
            <a:ext cx="1044892" cy="356830"/>
          </a:xfrm>
          <a:prstGeom prst="roundRect">
            <a:avLst>
              <a:gd name="adj" fmla="val 63839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778193" y="579239"/>
            <a:ext cx="817245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CHAPTER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4369" y="955000"/>
            <a:ext cx="4811316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 Overview &amp; Tooling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4369" y="1851184"/>
            <a:ext cx="210919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 Snapshot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4369" y="2304693"/>
            <a:ext cx="6419255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Source: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E-commerce Transactional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4369" y="2674739"/>
            <a:ext cx="6419255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Size: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Over 500,000 transactions, 250,000 customers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4369" y="3044785"/>
            <a:ext cx="6419255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Key Columns: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Customer ID, Purchase Date, Product Details, Price, Quantity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54397" y="1851184"/>
            <a:ext cx="2289929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Tools &amp; Technologies</a:t>
            </a:r>
            <a:endParaRPr lang="en-US" sz="16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54397" y="2328386"/>
            <a:ext cx="474464" cy="474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54397" y="3040023"/>
            <a:ext cx="210919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Python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54397" y="3493532"/>
            <a:ext cx="6419255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 manipulation, feature engineering, clustering</a:t>
            </a:r>
            <a:endParaRPr lang="en-US" sz="14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4397" y="4176713"/>
            <a:ext cx="474464" cy="474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54397" y="4888349"/>
            <a:ext cx="210919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SQL &amp; PostgreSQL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554397" y="5341858"/>
            <a:ext cx="6419255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 extraction, querying, initial analysis</a:t>
            </a:r>
            <a:endParaRPr lang="en-US" sz="14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4397" y="6025039"/>
            <a:ext cx="474464" cy="474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54397" y="6736675"/>
            <a:ext cx="210919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Power BI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554397" y="7190184"/>
            <a:ext cx="6419255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Interactive dashboards, visualisations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1082635"/>
            <a:ext cx="1360646" cy="46410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1156692"/>
            <a:ext cx="1064419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CHAPTER 3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1645444"/>
            <a:ext cx="7758708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Preparation &amp; Enhancement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864037" y="2564249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4037" y="2953345"/>
            <a:ext cx="4136231" cy="3048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7" name="Text 5"/>
          <p:cNvSpPr/>
          <p:nvPr/>
        </p:nvSpPr>
        <p:spPr>
          <a:xfrm>
            <a:off x="864037" y="313765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Cleaning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64037" y="3628668"/>
            <a:ext cx="41362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Handling missing values (e.g., imputation for missing customer details).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4037" y="4900136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Removing duplicate records and inconsistent entries.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4037" y="5776555"/>
            <a:ext cx="41362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Outlier detection and treatment (e.g., extreme transaction values).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247084" y="2564249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247084" y="2953345"/>
            <a:ext cx="4136231" cy="3048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3" name="Text 11"/>
          <p:cNvSpPr/>
          <p:nvPr/>
        </p:nvSpPr>
        <p:spPr>
          <a:xfrm>
            <a:off x="5247084" y="3137654"/>
            <a:ext cx="29495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Feature Engineering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5247084" y="3628668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RFM (Recency, Frequency, Monetary) values calculation.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47084" y="4505087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 lifetime value (CLTV) projection.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247084" y="5381506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Categorical encoding for product attributes.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30132" y="2564249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630132" y="2953345"/>
            <a:ext cx="4136231" cy="3048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9" name="Text 17"/>
          <p:cNvSpPr/>
          <p:nvPr/>
        </p:nvSpPr>
        <p:spPr>
          <a:xfrm>
            <a:off x="9630132" y="3137654"/>
            <a:ext cx="298334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Transformation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9630132" y="3628668"/>
            <a:ext cx="41362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Normalisation of numerical features for clustering algorithms.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630132" y="4900136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Aggregation of transactional data to customer level.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2091571"/>
            <a:ext cx="1364218" cy="46410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2165628"/>
            <a:ext cx="106799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CHAPTER 4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2654379"/>
            <a:ext cx="8440341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Exploratory Data Analysis Highlights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864037" y="3573185"/>
            <a:ext cx="4136231" cy="2564844"/>
          </a:xfrm>
          <a:prstGeom prst="roundRect">
            <a:avLst>
              <a:gd name="adj" fmla="val 14439"/>
            </a:avLst>
          </a:prstGeom>
          <a:solidFill>
            <a:srgbClr val="46464A"/>
          </a:solidFill>
          <a:ln/>
        </p:spPr>
      </p:sp>
      <p:sp>
        <p:nvSpPr>
          <p:cNvPr id="6" name="Text 4"/>
          <p:cNvSpPr/>
          <p:nvPr/>
        </p:nvSpPr>
        <p:spPr>
          <a:xfrm>
            <a:off x="1110853" y="3820001"/>
            <a:ext cx="27465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Transaction Trends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110853" y="4311015"/>
            <a:ext cx="364259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Identified seasonal peaks in purchasing behaviour and product categories with highest sales volumes.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7084" y="3573185"/>
            <a:ext cx="4136231" cy="2564844"/>
          </a:xfrm>
          <a:prstGeom prst="roundRect">
            <a:avLst>
              <a:gd name="adj" fmla="val 14439"/>
            </a:avLst>
          </a:prstGeom>
          <a:solidFill>
            <a:srgbClr val="46464A"/>
          </a:solidFill>
          <a:ln/>
        </p:spPr>
      </p:sp>
      <p:sp>
        <p:nvSpPr>
          <p:cNvPr id="9" name="Text 7"/>
          <p:cNvSpPr/>
          <p:nvPr/>
        </p:nvSpPr>
        <p:spPr>
          <a:xfrm>
            <a:off x="5493901" y="3820001"/>
            <a:ext cx="358294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Demographics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5493901" y="4311015"/>
            <a:ext cx="36425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Analysed distribution of customer locations and average order values by region.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3573185"/>
            <a:ext cx="4136231" cy="2564844"/>
          </a:xfrm>
          <a:prstGeom prst="roundRect">
            <a:avLst>
              <a:gd name="adj" fmla="val 14439"/>
            </a:avLst>
          </a:prstGeom>
          <a:solidFill>
            <a:srgbClr val="46464A"/>
          </a:solidFill>
          <a:ln/>
        </p:spPr>
      </p:sp>
      <p:sp>
        <p:nvSpPr>
          <p:cNvPr id="12" name="Text 10"/>
          <p:cNvSpPr/>
          <p:nvPr/>
        </p:nvSpPr>
        <p:spPr>
          <a:xfrm>
            <a:off x="9876949" y="3820001"/>
            <a:ext cx="30612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Product Performance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9876949" y="4311015"/>
            <a:ext cx="364259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Uncovered top-selling products and those with high return rates, informing inventory decisions.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1208008"/>
            <a:ext cx="1362313" cy="46410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1282065"/>
            <a:ext cx="106608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CHAPTER 5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1770817"/>
            <a:ext cx="6690598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SQL-Based Business Insights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864037" y="29364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Analysis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864037" y="3526155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Quarterly and annual revenue growth trends, identifying periods of high and low performance.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4037" y="4593908"/>
            <a:ext cx="6150054" cy="2150031"/>
          </a:xfrm>
          <a:prstGeom prst="roundRect">
            <a:avLst>
              <a:gd name="adj" fmla="val 17224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9277" y="4609148"/>
            <a:ext cx="6119574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26212" y="4764881"/>
            <a:ext cx="195036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Metric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577828" y="4764881"/>
            <a:ext cx="133457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Q1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13653" y="4764881"/>
            <a:ext cx="13383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Q2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79277" y="5315664"/>
            <a:ext cx="6119574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26212" y="5471398"/>
            <a:ext cx="195036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Revenue (£)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77828" y="5471398"/>
            <a:ext cx="133457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2.1M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413653" y="5471398"/>
            <a:ext cx="13383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2.5M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79277" y="6022181"/>
            <a:ext cx="6119574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26212" y="6177915"/>
            <a:ext cx="195036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Growth (%)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577828" y="6177915"/>
            <a:ext cx="133457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+10%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13653" y="6177915"/>
            <a:ext cx="13383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+19%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623929" y="2936438"/>
            <a:ext cx="349960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Segmentation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7623929" y="3526155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Initial segment identification based on purchase frequency and average spend.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623929" y="453842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High-Value: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Top 10% by spend.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623929" y="501979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Frequent Shoppers: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&gt;5 purchases annually.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623929" y="550116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New Customers: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First 30 days post-acquisition.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1508403"/>
            <a:ext cx="1373743" cy="46410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1582460"/>
            <a:ext cx="107751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CHAPTER 6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2071211"/>
            <a:ext cx="8997196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Refining Customer Segmentation Logic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864037" y="3360301"/>
            <a:ext cx="4136231" cy="3360777"/>
          </a:xfrm>
          <a:prstGeom prst="roundRect">
            <a:avLst>
              <a:gd name="adj" fmla="val 4353"/>
            </a:avLst>
          </a:prstGeom>
          <a:solidFill>
            <a:srgbClr val="27272B"/>
          </a:solidFill>
          <a:ln/>
        </p:spPr>
      </p:sp>
      <p:sp>
        <p:nvSpPr>
          <p:cNvPr id="6" name="Shape 4"/>
          <p:cNvSpPr/>
          <p:nvPr/>
        </p:nvSpPr>
        <p:spPr>
          <a:xfrm>
            <a:off x="864037" y="3329821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7" name="Shape 5"/>
          <p:cNvSpPr/>
          <p:nvPr/>
        </p:nvSpPr>
        <p:spPr>
          <a:xfrm>
            <a:off x="2561868" y="2990017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FE14D"/>
          </a:solidFill>
          <a:ln/>
        </p:spPr>
      </p:sp>
      <p:sp>
        <p:nvSpPr>
          <p:cNvPr id="8" name="Text 6"/>
          <p:cNvSpPr/>
          <p:nvPr/>
        </p:nvSpPr>
        <p:spPr>
          <a:xfrm>
            <a:off x="2784038" y="3175159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41333" y="397752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New Customers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141333" y="4468535"/>
            <a:ext cx="358163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Customers who have made their first purchase within the last 30 days. Focus on onboarding and initial engagement.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247084" y="3360301"/>
            <a:ext cx="4136231" cy="3360777"/>
          </a:xfrm>
          <a:prstGeom prst="roundRect">
            <a:avLst>
              <a:gd name="adj" fmla="val 4353"/>
            </a:avLst>
          </a:prstGeom>
          <a:solidFill>
            <a:srgbClr val="272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47084" y="3329821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4916" y="2990017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FE14D"/>
          </a:solidFill>
          <a:ln/>
        </p:spPr>
      </p:sp>
      <p:sp>
        <p:nvSpPr>
          <p:cNvPr id="14" name="Text 12"/>
          <p:cNvSpPr/>
          <p:nvPr/>
        </p:nvSpPr>
        <p:spPr>
          <a:xfrm>
            <a:off x="7167086" y="3175159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524381" y="3977521"/>
            <a:ext cx="305109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Returning Customers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5524381" y="4468535"/>
            <a:ext cx="358163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Customers with multiple purchases but not yet meeting loyal criteria. Strategies for retention and increased frequency.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630132" y="3360301"/>
            <a:ext cx="4136231" cy="3360777"/>
          </a:xfrm>
          <a:prstGeom prst="roundRect">
            <a:avLst>
              <a:gd name="adj" fmla="val 4353"/>
            </a:avLst>
          </a:prstGeom>
          <a:solidFill>
            <a:srgbClr val="272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9630132" y="3329821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27963" y="2990017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FE1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550134" y="3175159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907429" y="397752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Loyal Customers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9907429" y="4468535"/>
            <a:ext cx="358163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Customers with high RFM scores, consistent purchases over time. Prioritise loyalty programmes and exclusive offers.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1279446"/>
            <a:ext cx="1359694" cy="46410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1353503"/>
            <a:ext cx="106346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CHAPTER 7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1842254"/>
            <a:ext cx="5276969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Findings &amp; Insights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6548" y="2768739"/>
            <a:ext cx="370284" cy="3702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6280" y="2761059"/>
            <a:ext cx="5494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High-Value Segment Drive 60% Revenue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666280" y="3594973"/>
            <a:ext cx="549461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small percentage of loyal customers are responsible for the majority of sales, necessitating tailored retention efforts.</a:t>
            </a:r>
            <a:endParaRPr lang="en-US" sz="1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2017" y="2768739"/>
            <a:ext cx="370284" cy="3702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71748" y="2761059"/>
            <a:ext cx="5494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Targeted Promotions Boost Engagement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8271748" y="3594973"/>
            <a:ext cx="549461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Specific campaigns for 'Returning Customers' resulted in a 15% increase in purchase frequency.</a:t>
            </a:r>
            <a:endParaRPr lang="en-US" sz="1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6548" y="5281553"/>
            <a:ext cx="370284" cy="3702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66280" y="5273873"/>
            <a:ext cx="362628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Seasonal Product Affinity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1666280" y="5764887"/>
            <a:ext cx="549461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Identified strong correlation between certain product categories and seasonal purchase patterns, optimising inventory.</a:t>
            </a:r>
            <a:endParaRPr lang="en-US" sz="1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2017" y="5281553"/>
            <a:ext cx="370284" cy="3702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71748" y="5273873"/>
            <a:ext cx="429672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Regional Purchase Disparities</a:t>
            </a:r>
            <a:endParaRPr lang="en-US" sz="2150" dirty="0"/>
          </a:p>
        </p:txBody>
      </p:sp>
      <p:sp>
        <p:nvSpPr>
          <p:cNvPr id="16" name="Text 10"/>
          <p:cNvSpPr/>
          <p:nvPr/>
        </p:nvSpPr>
        <p:spPr>
          <a:xfrm>
            <a:off x="8271748" y="5764887"/>
            <a:ext cx="549461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Identified geographic variations in product preferences and spending habits, informing localised marketing.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2445068"/>
            <a:ext cx="1372195" cy="46410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2519124"/>
            <a:ext cx="107596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CHAPTER 8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3007876"/>
            <a:ext cx="6841927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Power BI Dashboard Overview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864037" y="3926681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interactive Power BI dashboard provides a comprehensive view of customer segments, key metrics, and actionable insights.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994434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Placeholder for screenshot of Power BI dashboard showing customer segments, revenue by segment, and key performance indicators.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1005364"/>
            <a:ext cx="1370409" cy="46410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1079421"/>
            <a:ext cx="1074182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CHAPTER 9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1568172"/>
            <a:ext cx="9565958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Business Recommendations &amp; Conclusion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864037" y="2733794"/>
            <a:ext cx="404681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Strategic Recommendations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864037" y="3323511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Personalised Marketing: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Tailor campaigns based on identified customer segments.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4199930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Loyalty Programmes: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Enhance offerings for high-value and loyal customers.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4037" y="5076349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Product Optimisation: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Adjust inventory and promotions based on seasonal and regional insights.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4037" y="6347817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 Journey Mapping: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Focus on improving experience for new and returning customers.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2733794"/>
            <a:ext cx="289881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Impact &amp; Next Steps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623929" y="3323511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Implementing these recommendations is projected to increase customer retention by 10% and overall revenue by 5-7% within the next year.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23929" y="4755475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Thank you!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623929" y="5413772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Questions &amp; Discussion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2026-01-04T08:45:40Z</dcterms:created>
  <dcterms:modified xsi:type="dcterms:W3CDTF">2026-01-04T08:45:40Z</dcterms:modified>
</cp:coreProperties>
</file>